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1" r:id="rId5"/>
    <p:sldId id="262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78771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CC7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l">
              <a:buNone/>
            </a:pP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27111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9DFBF"/>
                </a:solidFill>
              </a:rPr>
              <a:t>TOOL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293522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Microsoft Excel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74320" y="3950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DCEA0"/>
                </a:solidFill>
              </a:rPr>
              <a:t>Forest Green Theme  ·  1,001 </a:t>
            </a:r>
            <a:r>
              <a:rPr lang="en-US" sz="1000" dirty="0" smtClean="0">
                <a:solidFill>
                  <a:srgbClr val="7DCEA0"/>
                </a:solidFill>
              </a:rPr>
              <a:t>Rows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DCEA0"/>
                </a:solidFill>
              </a:rPr>
              <a:t>4 KPI Cards  ·  6 Charts  ·  2 Slicers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77724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Social Media Impact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on Health &amp; Wellbeing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0" y="2423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DFBF"/>
                </a:solidFill>
              </a:rPr>
              <a:t>Analysis of 1,001 students across Academic Levels &amp; Platforms — measuring how daily social media usage patterns affect mental health, sleep quality, and academic performance.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0" y="406908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4069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55.8% say social media affects academic performance  |  47% report negative impact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  ·  Slide 1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28707" y="696800"/>
            <a:ext cx="9594575" cy="444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KPI Cards — What They Show &amp; How to Build Them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96596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</a:rPr>
              <a:t>1,001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</a:rPr>
              <a:t>Total Students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 (styled cell)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965960" cy="129844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2783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7346"/>
                </a:solidFill>
              </a:rPr>
              <a:t>Formula: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=COUNTA(A2:A1002)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Counts all student rows. COUNTA includes text cells.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1417320"/>
            <a:ext cx="1965960" cy="146304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417320"/>
            <a:ext cx="196596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</a:rPr>
              <a:t>5.2 hrs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604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</a:rPr>
              <a:t>Avg Daily Usage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 (styled cell)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06040" y="3154680"/>
            <a:ext cx="1965960" cy="129844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322783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7346"/>
                </a:solidFill>
              </a:rPr>
              <a:t>Formula: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=AVERAGE(C2:C1002)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7673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Average of the Daily Usage Hours column across all students.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1965960" cy="146304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17320"/>
            <a:ext cx="196596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</a:rPr>
              <a:t>6.4 hrs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75488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</a:rPr>
              <a:t>Avg Sleep Hours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 (styled cell)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1965960" cy="129844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22783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7346"/>
                </a:solidFill>
              </a:rPr>
              <a:t>Formula: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=AVERAGE(D2:D1002)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7673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Average of Sleep Hours column. Shows 6.4 hrs — below healthy 8 hrs.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03720" y="1417320"/>
            <a:ext cx="1965960" cy="146304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1417320"/>
            <a:ext cx="196596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1572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C71"/>
                </a:solidFill>
              </a:rPr>
              <a:t>6.2/10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03720" y="21488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</a:rPr>
              <a:t>Avg Mental Health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Visual: Card (styled cell)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3154680"/>
            <a:ext cx="1965960" cy="129844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95160" y="322783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7346"/>
                </a:solidFill>
              </a:rPr>
              <a:t>Formula: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9516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5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=AVERAGE(E2:E1002)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95160" y="37673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Average of Mental Health Score (rated 1–10). Moderate score.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  ·  Slide 2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Charts Used — Types, Fields &amp; Real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64008" cy="11704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61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Gender Distribution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3320" y="1280160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217346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2801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Horizontal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1554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Y-axis: Gender  |  X-axis: Count of Students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1773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346"/>
                </a:solidFill>
              </a:rPr>
              <a:t>Values: Male: ~530  |  Female: ~470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How: Insert → Bar → Clustered Bar. Y=Gender, X=Count. Sort descending.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1207008"/>
            <a:ext cx="41148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07008"/>
            <a:ext cx="64008" cy="1170432"/>
          </a:xfrm>
          <a:prstGeom prst="rect">
            <a:avLst/>
          </a:prstGeom>
          <a:solidFill>
            <a:srgbClr val="1A7341"/>
          </a:solidFill>
          <a:ln/>
        </p:spPr>
      </p:sp>
      <p:sp>
        <p:nvSpPr>
          <p:cNvPr id="15" name="Text 13"/>
          <p:cNvSpPr/>
          <p:nvPr/>
        </p:nvSpPr>
        <p:spPr>
          <a:xfrm>
            <a:off x="4965192" y="1261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Avg Daily Usage by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1A734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2801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Line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65192" y="1554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X-axis: Platform  |  Y-axis: Avg Hours (4.6–5.6)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65192" y="1773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346"/>
                </a:solidFill>
              </a:rPr>
              <a:t>Values: Facebook ~5.4 (peak)  |  LinkedIn ~4.9 (lowest)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65192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How: Pivot Table: Platform as Row, AVG(DailyUsage) as Value → Insert Line Chart.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41148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468880"/>
            <a:ext cx="64008" cy="1170432"/>
          </a:xfrm>
          <a:prstGeom prst="rect">
            <a:avLst/>
          </a:prstGeom>
          <a:solidFill>
            <a:srgbClr val="0D7B3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5237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Overall Impact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254203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0D7B3E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Donut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1792" y="28163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Values: Count per impact type  |  Legend: Positive/Negative/Neutral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" y="3035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346"/>
                </a:solidFill>
              </a:rPr>
              <a:t>Values: Negative: 470 (47%)  |  Positive: 280  |  Neutral: 250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" y="32552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How: Create 3-row summary table → Insert → Donut Chart → Add % data labels.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468880"/>
            <a:ext cx="41148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468880"/>
            <a:ext cx="64008" cy="1170432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25237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Platform Popularity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54203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145A32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Horizontal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65192" y="28163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Y-axis: Platform Name  |  X-axis: Count of Students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65192" y="3035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346"/>
                </a:solidFill>
              </a:rPr>
              <a:t>Values: YouTube: ~157 (highest)  |  Facebook: ~123 (lowest)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65192" y="32552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How: Pivot: Platform as Row, Count as Value → Insert Bar Chart → Sort descending.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730752"/>
            <a:ext cx="41148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730752"/>
            <a:ext cx="64008" cy="11704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" y="37856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Does SM Affect Academic Performance?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03320" y="3803904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217346"/>
          </a:solidFill>
          <a:ln/>
        </p:spPr>
      </p:sp>
      <p:sp>
        <p:nvSpPr>
          <p:cNvPr id="41" name="Text 39"/>
          <p:cNvSpPr/>
          <p:nvPr/>
        </p:nvSpPr>
        <p:spPr>
          <a:xfrm>
            <a:off x="3703320" y="38039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Pie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1792" y="40782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Values: Yes (558) vs No (442)  |  Two slices only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1792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346"/>
                </a:solidFill>
              </a:rPr>
              <a:t>Values: Yes: 55.8%  |  No: 44.2%  |  Label both slices with 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1792" y="45171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How: Make a 2-row table: Yes/No + count → Select → Insert → Pie Chart → add % labels.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3730752"/>
            <a:ext cx="4114800" cy="1170432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730752"/>
            <a:ext cx="64008" cy="1170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4965192" y="37856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Impact Distribution by Usage Level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46720" y="3803904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8046720" y="38039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Clustered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65192" y="40782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Fields: Y-axis: Usage level (High/Low/Moderate)  |  X-axis: Count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65192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7346"/>
                </a:solidFill>
              </a:rPr>
              <a:t>Values: Moderate: ~420  |  High: ~410  |  Low: ~200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65192" y="45171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How: Pivot: Usage Category as Row, Impact as Column, Count as Value → Insert Clustered Bar.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  ·  Slide 3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Slicers Used in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 slicers on the left panel filter all 6 charts simultaneously via Report Connections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33375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36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7346"/>
                </a:solidFill>
              </a:rPr>
              <a:t>Slicer 1: Usage Category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Values shown in your dashboard: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1C3A2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67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High Usage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274320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1C3A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743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Low Usage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218688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1C3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18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Moderate Usage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How to build: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1. Click any Pivot Chart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2. PivotChart Analyze → Insert Slicer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3. Tick 'Usage Category' → OK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4. Right-click slicer → Report Connections → select all Pivot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7346"/>
                </a:solidFill>
              </a:rPr>
              <a:t>Slicer 2: Academic Level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Values shown in your dashboard: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56048" y="2267712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C3A2A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2267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Graduate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56048" y="274320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C3A2A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High School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56048" y="321868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C3A2A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Undergraduate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How to build: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1. Same Insert Slicer step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2. Tick 'Academic Level'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3. Connect to all Pivot Tables via Report Connections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4. Drag slicer to match your layout panel position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  ·  Slide 4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Real Numbers from Your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114300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54864" cy="1143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55.8%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</a:rPr>
              <a:t>Students say social media DOES affect academic performance (558 Yes vs 442 No — Pie Chart)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114800" cy="114300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07008"/>
            <a:ext cx="54864" cy="1143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47%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18013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</a:rPr>
              <a:t>Report NEGATIVE impact — largest group. 280 Positive, 250 Neutral (Donut Chart)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114300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68880"/>
            <a:ext cx="54864" cy="1143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420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5.2 hrs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</a:rPr>
              <a:t>Average daily social media usage across all 1,001 students (KPI Card)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468880"/>
            <a:ext cx="4114800" cy="114300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468880"/>
            <a:ext cx="54864" cy="1143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420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YouTube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</a:rPr>
              <a:t>Most popular platform with ~157 students using it daily (Platform Popularity Bar Chart)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114300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30752"/>
            <a:ext cx="54864" cy="1143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03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6.4 hrs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94360" y="4325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</a:rPr>
              <a:t>Average sleep hours — below 8 hr target, linked to high social media usage (KPI Card)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30752"/>
            <a:ext cx="4114800" cy="1143000"/>
          </a:xfrm>
          <a:prstGeom prst="rect">
            <a:avLst/>
          </a:prstGeom>
          <a:solidFill>
            <a:srgbClr val="1C3A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30752"/>
            <a:ext cx="54864" cy="1143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8039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6.2/10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937760" y="4325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</a:rPr>
              <a:t>Average mental health score — moderate. High Usage group likely scores lower (KPI Card)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301752"/>
          </a:xfrm>
          <a:prstGeom prst="roundRect">
            <a:avLst>
              <a:gd name="adj" fmla="val 15152"/>
            </a:avLst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Excel  ·  Slide 6 of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Cleaning </a:t>
            </a:r>
            <a:r>
              <a:rPr lang="en-US" sz="2800" b="1" dirty="0" smtClean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Power Query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499616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Checked for Null / Missing Values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1207008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63040"/>
            <a:ext cx="384048" cy="384048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58968" y="1502531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Corrected Data Types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10128"/>
            <a:ext cx="384048" cy="384048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2708" y="3346704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Checked for Duplicate Records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3054096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310128"/>
            <a:ext cx="384048" cy="384048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3346704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Renamed Columns for Readability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811</Words>
  <Application>Microsoft Office PowerPoint</Application>
  <PresentationFormat>On-screen Show (16:9)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Portfolio</dc:title>
  <dc:subject>PptxGenJS Presentation</dc:subject>
  <dc:creator>PptxGenJS</dc:creator>
  <cp:lastModifiedBy>Shamil Roshan</cp:lastModifiedBy>
  <cp:revision>8</cp:revision>
  <dcterms:created xsi:type="dcterms:W3CDTF">2026-05-07T20:43:47Z</dcterms:created>
  <dcterms:modified xsi:type="dcterms:W3CDTF">2026-06-07T17:35:45Z</dcterms:modified>
</cp:coreProperties>
</file>